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943600" y="457200"/>
            <a:ext cx="2743200" cy="2743200"/>
          </a:xfrm>
          <a:prstGeom prst="ellipse">
            <a:avLst/>
          </a:prstGeom>
          <a:solidFill>
            <a:srgbClr val="3C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Isosceles Triangle 3"/>
          <p:cNvSpPr/>
          <p:nvPr/>
        </p:nvSpPr>
        <p:spPr>
          <a:xfrm>
            <a:off x="182880" y="4389120"/>
            <a:ext cx="2743200" cy="2286000"/>
          </a:xfrm>
          <a:prstGeom prst="triangle">
            <a:avLst/>
          </a:prstGeom>
          <a:solidFill>
            <a:srgbClr val="963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>
                <a:solidFill>
                  <a:srgbClr val="FFFFFF"/>
                </a:solidFill>
              </a:rPr>
              <a:t>PWA Torneos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DCDCDC"/>
                </a:solidFill>
              </a:rPr>
              <a:t>Richard Quintero</a:t>
            </a:r>
          </a:p>
          <a:p>
            <a:r>
              <a:rPr sz="2800">
                <a:solidFill>
                  <a:srgbClr val="DCDCDC"/>
                </a:solidFill>
              </a:rPr>
              <a:t>C.I. 30.380.344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solidFill>
                  <a:srgbClr val="FFFFFF"/>
                </a:solidFill>
              </a:rPr>
              <a:t>Resumen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E6E6E6"/>
                </a:solidFill>
              </a:rPr>
              <a:t>• Aplicación PWA para gestión de torneos</a:t>
            </a:r>
          </a:p>
          <a:p>
            <a:r>
              <a:rPr sz="2000">
                <a:solidFill>
                  <a:srgbClr val="E6E6E6"/>
                </a:solidFill>
              </a:rPr>
              <a:t>• Inscripción, tiempos y resultados</a:t>
            </a:r>
          </a:p>
          <a:p>
            <a:r>
              <a:rPr sz="2000">
                <a:solidFill>
                  <a:srgbClr val="E6E6E6"/>
                </a:solidFill>
              </a:rPr>
              <a:t>• React + Vite / Node.js / MySQL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VE" dirty="0">
              <a:solidFill>
                <a:srgbClr val="FFFFFF"/>
              </a:solidFill>
            </a:endParaRPr>
          </a:p>
          <a:p>
            <a:pPr algn="ctr"/>
            <a:endParaRPr dirty="0"/>
          </a:p>
        </p:txBody>
      </p:sp>
      <p:sp>
        <p:nvSpPr>
          <p:cNvPr id="5" name="Oval 4"/>
          <p:cNvSpPr/>
          <p:nvPr/>
        </p:nvSpPr>
        <p:spPr>
          <a:xfrm>
            <a:off x="6400800" y="182880"/>
            <a:ext cx="1828800" cy="1828800"/>
          </a:xfrm>
          <a:prstGeom prst="ellipse">
            <a:avLst/>
          </a:prstGeom>
          <a:solidFill>
            <a:srgbClr val="3C5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sosceles Triangle 5"/>
          <p:cNvSpPr/>
          <p:nvPr/>
        </p:nvSpPr>
        <p:spPr>
          <a:xfrm>
            <a:off x="274320" y="4114800"/>
            <a:ext cx="2286000" cy="1828800"/>
          </a:xfrm>
          <a:prstGeom prst="triangle">
            <a:avLst/>
          </a:prstGeom>
          <a:solidFill>
            <a:srgbClr val="783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uadroTexto 6"/>
          <p:cNvSpPr txBox="1"/>
          <p:nvPr/>
        </p:nvSpPr>
        <p:spPr>
          <a:xfrm>
            <a:off x="1268963" y="462325"/>
            <a:ext cx="68626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Resumen del Proyecto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274321" y="1809887"/>
            <a:ext cx="8701728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3200" dirty="0">
                <a:solidFill>
                  <a:srgbClr val="FFFFFF"/>
                </a:solidFill>
              </a:rPr>
              <a:t>• Aplicación PWA para gestión de torneos.</a:t>
            </a:r>
          </a:p>
          <a:p>
            <a:r>
              <a:rPr lang="es-VE" sz="3200" dirty="0">
                <a:solidFill>
                  <a:srgbClr val="FFFFFF"/>
                </a:solidFill>
              </a:rPr>
              <a:t>• Inscripción de atletas, tiempos y resultados.</a:t>
            </a:r>
          </a:p>
          <a:p>
            <a:r>
              <a:rPr lang="es-VE" sz="3200" dirty="0">
                <a:solidFill>
                  <a:srgbClr val="FFFFFF"/>
                </a:solidFill>
              </a:rPr>
              <a:t>• </a:t>
            </a:r>
            <a:r>
              <a:rPr lang="es-VE" sz="3200" dirty="0" err="1">
                <a:solidFill>
                  <a:srgbClr val="FFFFFF"/>
                </a:solidFill>
              </a:rPr>
              <a:t>Frontend</a:t>
            </a:r>
            <a:r>
              <a:rPr lang="es-VE" sz="3200" dirty="0">
                <a:solidFill>
                  <a:srgbClr val="FFFFFF"/>
                </a:solidFill>
              </a:rPr>
              <a:t>: </a:t>
            </a:r>
            <a:r>
              <a:rPr lang="es-VE" sz="3200" dirty="0" err="1">
                <a:solidFill>
                  <a:srgbClr val="FFFFFF"/>
                </a:solidFill>
              </a:rPr>
              <a:t>React</a:t>
            </a:r>
            <a:r>
              <a:rPr lang="es-VE" sz="3200" dirty="0">
                <a:solidFill>
                  <a:srgbClr val="FFFFFF"/>
                </a:solidFill>
              </a:rPr>
              <a:t> + Vite / </a:t>
            </a:r>
            <a:r>
              <a:rPr lang="es-VE" sz="3200" dirty="0" err="1">
                <a:solidFill>
                  <a:srgbClr val="FFFFFF"/>
                </a:solidFill>
              </a:rPr>
              <a:t>Backend</a:t>
            </a:r>
            <a:r>
              <a:rPr lang="es-VE" sz="3200" dirty="0">
                <a:solidFill>
                  <a:srgbClr val="FFFFFF"/>
                </a:solidFill>
              </a:rPr>
              <a:t>: Node.js / </a:t>
            </a:r>
            <a:r>
              <a:rPr lang="es-VE" sz="3200" dirty="0" err="1">
                <a:solidFill>
                  <a:srgbClr val="FFFFFF"/>
                </a:solidFill>
              </a:rPr>
              <a:t>MySQL</a:t>
            </a:r>
            <a:r>
              <a:rPr lang="es-VE" sz="3200" dirty="0">
                <a:solidFill>
                  <a:srgbClr val="FFFFFF"/>
                </a:solidFill>
              </a:rPr>
              <a:t>.</a:t>
            </a:r>
          </a:p>
          <a:p>
            <a:endParaRPr lang="es-VE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solidFill>
                  <a:srgbClr val="FFFFFF"/>
                </a:solidFill>
              </a:rPr>
              <a:t>Metodología Scrum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E6E6E6"/>
                </a:solidFill>
              </a:rPr>
              <a:t>• Sprints</a:t>
            </a:r>
          </a:p>
          <a:p>
            <a:r>
              <a:rPr sz="2000">
                <a:solidFill>
                  <a:srgbClr val="E6E6E6"/>
                </a:solidFill>
              </a:rPr>
              <a:t>• Backlog</a:t>
            </a:r>
          </a:p>
          <a:p>
            <a:r>
              <a:rPr sz="2000">
                <a:solidFill>
                  <a:srgbClr val="E6E6E6"/>
                </a:solidFill>
              </a:rPr>
              <a:t>• Roles definidos</a:t>
            </a:r>
          </a:p>
          <a:p>
            <a:r>
              <a:rPr sz="2000">
                <a:solidFill>
                  <a:srgbClr val="E6E6E6"/>
                </a:solidFill>
              </a:rPr>
              <a:t>• Entregas iterativas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Oval 4"/>
          <p:cNvSpPr/>
          <p:nvPr/>
        </p:nvSpPr>
        <p:spPr>
          <a:xfrm>
            <a:off x="6400800" y="182880"/>
            <a:ext cx="1828800" cy="1828800"/>
          </a:xfrm>
          <a:prstGeom prst="ellipse">
            <a:avLst/>
          </a:prstGeom>
          <a:solidFill>
            <a:srgbClr val="3C5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sosceles Triangle 5"/>
          <p:cNvSpPr/>
          <p:nvPr/>
        </p:nvSpPr>
        <p:spPr>
          <a:xfrm>
            <a:off x="274320" y="4114800"/>
            <a:ext cx="2286000" cy="1828800"/>
          </a:xfrm>
          <a:prstGeom prst="triangle">
            <a:avLst/>
          </a:prstGeom>
          <a:solidFill>
            <a:srgbClr val="783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uadroTexto 6"/>
          <p:cNvSpPr txBox="1"/>
          <p:nvPr/>
        </p:nvSpPr>
        <p:spPr>
          <a:xfrm>
            <a:off x="2183363" y="269973"/>
            <a:ext cx="62328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4400" dirty="0">
                <a:solidFill>
                  <a:srgbClr val="FF0000"/>
                </a:solidFill>
                <a:latin typeface="Cooper Black" panose="0208090404030B020404" pitchFamily="18" charset="0"/>
              </a:rPr>
              <a:t>Metodología </a:t>
            </a:r>
            <a:r>
              <a:rPr lang="es-VE" sz="4400" dirty="0" err="1">
                <a:solidFill>
                  <a:srgbClr val="FF0000"/>
                </a:solidFill>
                <a:latin typeface="Cooper Black" panose="0208090404030B020404" pitchFamily="18" charset="0"/>
              </a:rPr>
              <a:t>Scrum</a:t>
            </a:r>
            <a:endParaRPr lang="es-VE" sz="4400" dirty="0">
              <a:solidFill>
                <a:srgbClr val="FF0000"/>
              </a:solidFill>
              <a:latin typeface="Cooper Black" panose="0208090404030B020404" pitchFamily="18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1021703" y="1524079"/>
            <a:ext cx="4814595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3200" dirty="0">
                <a:solidFill>
                  <a:srgbClr val="FFFFFF"/>
                </a:solidFill>
              </a:rPr>
              <a:t>• Sprint Planning</a:t>
            </a:r>
          </a:p>
          <a:p>
            <a:r>
              <a:rPr lang="sv-SE" sz="3200" dirty="0">
                <a:solidFill>
                  <a:srgbClr val="FFFFFF"/>
                </a:solidFill>
              </a:rPr>
              <a:t>• Backlogs</a:t>
            </a:r>
          </a:p>
          <a:p>
            <a:r>
              <a:rPr lang="sv-SE" sz="3200" dirty="0">
                <a:solidFill>
                  <a:srgbClr val="FFFFFF"/>
                </a:solidFill>
              </a:rPr>
              <a:t>• Roles definidos</a:t>
            </a:r>
          </a:p>
          <a:p>
            <a:r>
              <a:rPr lang="sv-SE" sz="3200" dirty="0">
                <a:solidFill>
                  <a:srgbClr val="FFFFFF"/>
                </a:solidFill>
              </a:rPr>
              <a:t>• Entregas iterativas</a:t>
            </a:r>
          </a:p>
          <a:p>
            <a:endParaRPr lang="es-V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solidFill>
                  <a:srgbClr val="FFFFFF"/>
                </a:solidFill>
              </a:rPr>
              <a:t>Funcionalidades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E6E6E6"/>
                </a:solidFill>
              </a:rPr>
              <a:t>• Gestión de torneos y categorías</a:t>
            </a:r>
          </a:p>
          <a:p>
            <a:r>
              <a:rPr sz="2000">
                <a:solidFill>
                  <a:srgbClr val="E6E6E6"/>
                </a:solidFill>
              </a:rPr>
              <a:t>• Registro de atletas</a:t>
            </a:r>
          </a:p>
          <a:p>
            <a:r>
              <a:rPr sz="2000">
                <a:solidFill>
                  <a:srgbClr val="E6E6E6"/>
                </a:solidFill>
              </a:rPr>
              <a:t>• Tiempos en tiempo real</a:t>
            </a:r>
          </a:p>
          <a:p>
            <a:r>
              <a:rPr sz="2000">
                <a:solidFill>
                  <a:srgbClr val="E6E6E6"/>
                </a:solidFill>
              </a:rPr>
              <a:t>• Resultados por categoría</a:t>
            </a:r>
          </a:p>
          <a:p>
            <a:r>
              <a:rPr sz="2000">
                <a:solidFill>
                  <a:srgbClr val="E6E6E6"/>
                </a:solidFill>
              </a:rPr>
              <a:t>• PWA Offline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400800" y="182880"/>
            <a:ext cx="1828800" cy="1828800"/>
          </a:xfrm>
          <a:prstGeom prst="ellipse">
            <a:avLst/>
          </a:prstGeom>
          <a:solidFill>
            <a:srgbClr val="3C5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sosceles Triangle 5"/>
          <p:cNvSpPr/>
          <p:nvPr/>
        </p:nvSpPr>
        <p:spPr>
          <a:xfrm>
            <a:off x="274320" y="4114800"/>
            <a:ext cx="2286000" cy="1828800"/>
          </a:xfrm>
          <a:prstGeom prst="triangle">
            <a:avLst/>
          </a:prstGeom>
          <a:solidFill>
            <a:srgbClr val="783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uadroTexto 6"/>
          <p:cNvSpPr txBox="1"/>
          <p:nvPr/>
        </p:nvSpPr>
        <p:spPr>
          <a:xfrm>
            <a:off x="2090057" y="283048"/>
            <a:ext cx="522887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Funcionalidades Principales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1786812" y="2127171"/>
            <a:ext cx="5570376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3200" dirty="0">
                <a:solidFill>
                  <a:srgbClr val="FFFFFF"/>
                </a:solidFill>
              </a:rPr>
              <a:t>• Gestión de torneos y categorías</a:t>
            </a:r>
          </a:p>
          <a:p>
            <a:r>
              <a:rPr lang="es-VE" sz="3200" dirty="0">
                <a:solidFill>
                  <a:srgbClr val="FFFFFF"/>
                </a:solidFill>
              </a:rPr>
              <a:t>• Registro de atletas</a:t>
            </a:r>
          </a:p>
          <a:p>
            <a:r>
              <a:rPr lang="es-VE" sz="3200" dirty="0">
                <a:solidFill>
                  <a:srgbClr val="FFFFFF"/>
                </a:solidFill>
              </a:rPr>
              <a:t>• Tiempos en tiempo real</a:t>
            </a:r>
          </a:p>
          <a:p>
            <a:r>
              <a:rPr lang="es-VE" sz="3200" dirty="0">
                <a:solidFill>
                  <a:srgbClr val="FFFFFF"/>
                </a:solidFill>
              </a:rPr>
              <a:t>• Resultados por categoría y general</a:t>
            </a:r>
          </a:p>
          <a:p>
            <a:r>
              <a:rPr lang="es-VE" sz="3200" dirty="0">
                <a:solidFill>
                  <a:srgbClr val="FFFFFF"/>
                </a:solidFill>
              </a:rPr>
              <a:t>• Funcionalidad offline (PWA)</a:t>
            </a:r>
          </a:p>
          <a:p>
            <a:endParaRPr lang="es-VE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solidFill>
                  <a:srgbClr val="FFFFFF"/>
                </a:solidFill>
              </a:rPr>
              <a:t>Arquitectura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E6E6E6"/>
                </a:solidFill>
              </a:rPr>
              <a:t>• Frontend: React</a:t>
            </a:r>
          </a:p>
          <a:p>
            <a:r>
              <a:rPr sz="2000">
                <a:solidFill>
                  <a:srgbClr val="E6E6E6"/>
                </a:solidFill>
              </a:rPr>
              <a:t>• Backend: Node.js + Express</a:t>
            </a:r>
          </a:p>
          <a:p>
            <a:r>
              <a:rPr sz="2000">
                <a:solidFill>
                  <a:srgbClr val="E6E6E6"/>
                </a:solidFill>
              </a:rPr>
              <a:t>• Base de datos: MySQL</a:t>
            </a:r>
          </a:p>
          <a:p>
            <a:r>
              <a:rPr sz="2000">
                <a:solidFill>
                  <a:srgbClr val="E6E6E6"/>
                </a:solidFill>
              </a:rPr>
              <a:t>• API documentada con OpenAPI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400800" y="182880"/>
            <a:ext cx="1828800" cy="1828800"/>
          </a:xfrm>
          <a:prstGeom prst="ellipse">
            <a:avLst/>
          </a:prstGeom>
          <a:solidFill>
            <a:srgbClr val="3C5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sosceles Triangle 5"/>
          <p:cNvSpPr/>
          <p:nvPr/>
        </p:nvSpPr>
        <p:spPr>
          <a:xfrm>
            <a:off x="274320" y="4114800"/>
            <a:ext cx="2286000" cy="1828800"/>
          </a:xfrm>
          <a:prstGeom prst="triangle">
            <a:avLst/>
          </a:prstGeom>
          <a:solidFill>
            <a:srgbClr val="783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uadroTexto 6"/>
          <p:cNvSpPr txBox="1"/>
          <p:nvPr/>
        </p:nvSpPr>
        <p:spPr>
          <a:xfrm>
            <a:off x="1931437" y="274638"/>
            <a:ext cx="629816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Arquitectura del Sistema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1417320" y="2125182"/>
            <a:ext cx="6219786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3200" dirty="0">
                <a:solidFill>
                  <a:srgbClr val="FFFFFF"/>
                </a:solidFill>
              </a:rPr>
              <a:t>• </a:t>
            </a:r>
            <a:r>
              <a:rPr lang="es-VE" sz="3200" dirty="0" err="1">
                <a:solidFill>
                  <a:srgbClr val="FFFFFF"/>
                </a:solidFill>
              </a:rPr>
              <a:t>Frontend</a:t>
            </a:r>
            <a:r>
              <a:rPr lang="es-VE" sz="3200" dirty="0">
                <a:solidFill>
                  <a:srgbClr val="FFFFFF"/>
                </a:solidFill>
              </a:rPr>
              <a:t>: </a:t>
            </a:r>
            <a:r>
              <a:rPr lang="es-VE" sz="3200" dirty="0" err="1">
                <a:solidFill>
                  <a:srgbClr val="FFFFFF"/>
                </a:solidFill>
              </a:rPr>
              <a:t>React</a:t>
            </a:r>
            <a:r>
              <a:rPr lang="es-VE" sz="3200" dirty="0">
                <a:solidFill>
                  <a:srgbClr val="FFFFFF"/>
                </a:solidFill>
              </a:rPr>
              <a:t> PWA</a:t>
            </a:r>
          </a:p>
          <a:p>
            <a:r>
              <a:rPr lang="es-VE" sz="3200" dirty="0">
                <a:solidFill>
                  <a:srgbClr val="FFFFFF"/>
                </a:solidFill>
              </a:rPr>
              <a:t>• </a:t>
            </a:r>
            <a:r>
              <a:rPr lang="es-VE" sz="3200" dirty="0" err="1">
                <a:solidFill>
                  <a:srgbClr val="FFFFFF"/>
                </a:solidFill>
              </a:rPr>
              <a:t>Backend</a:t>
            </a:r>
            <a:r>
              <a:rPr lang="es-VE" sz="3200" dirty="0">
                <a:solidFill>
                  <a:srgbClr val="FFFFFF"/>
                </a:solidFill>
              </a:rPr>
              <a:t>: Node.js + Express</a:t>
            </a:r>
          </a:p>
          <a:p>
            <a:r>
              <a:rPr lang="es-VE" sz="3200" dirty="0">
                <a:solidFill>
                  <a:srgbClr val="FFFFFF"/>
                </a:solidFill>
              </a:rPr>
              <a:t>• BD: </a:t>
            </a:r>
            <a:r>
              <a:rPr lang="es-VE" sz="3200" dirty="0" err="1">
                <a:solidFill>
                  <a:srgbClr val="FFFFFF"/>
                </a:solidFill>
              </a:rPr>
              <a:t>MySQL</a:t>
            </a:r>
            <a:endParaRPr lang="es-VE" sz="3200" dirty="0">
              <a:solidFill>
                <a:srgbClr val="FFFFFF"/>
              </a:solidFill>
            </a:endParaRPr>
          </a:p>
          <a:p>
            <a:r>
              <a:rPr lang="es-VE" sz="3200" dirty="0">
                <a:solidFill>
                  <a:srgbClr val="FFFFFF"/>
                </a:solidFill>
              </a:rPr>
              <a:t>• API REST documentada con </a:t>
            </a:r>
            <a:r>
              <a:rPr lang="es-VE" sz="3200" dirty="0" err="1">
                <a:solidFill>
                  <a:srgbClr val="FFFFFF"/>
                </a:solidFill>
              </a:rPr>
              <a:t>OpenAPI</a:t>
            </a:r>
            <a:endParaRPr lang="es-VE" sz="3200" dirty="0">
              <a:solidFill>
                <a:srgbClr val="FFFFFF"/>
              </a:solidFill>
            </a:endParaRPr>
          </a:p>
          <a:p>
            <a:endParaRPr lang="es-VE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solidFill>
                  <a:srgbClr val="FFFFFF"/>
                </a:solidFill>
              </a:rPr>
              <a:t>Base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E6E6E6"/>
                </a:solidFill>
              </a:rPr>
              <a:t>• Tablas: users, tournaments, events,</a:t>
            </a:r>
          </a:p>
          <a:p>
            <a:r>
              <a:rPr sz="2000">
                <a:solidFill>
                  <a:srgbClr val="E6E6E6"/>
                </a:solidFill>
              </a:rPr>
              <a:t>  categories, athletes, registrations, times</a:t>
            </a:r>
          </a:p>
          <a:p>
            <a:r>
              <a:rPr sz="2000">
                <a:solidFill>
                  <a:srgbClr val="E6E6E6"/>
                </a:solidFill>
              </a:rPr>
              <a:t>• Modelo normalizado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400800" y="182880"/>
            <a:ext cx="1828800" cy="1828800"/>
          </a:xfrm>
          <a:prstGeom prst="ellipse">
            <a:avLst/>
          </a:prstGeom>
          <a:solidFill>
            <a:srgbClr val="3C5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sosceles Triangle 5"/>
          <p:cNvSpPr/>
          <p:nvPr/>
        </p:nvSpPr>
        <p:spPr>
          <a:xfrm>
            <a:off x="274320" y="4114800"/>
            <a:ext cx="2286000" cy="1828800"/>
          </a:xfrm>
          <a:prstGeom prst="triangle">
            <a:avLst/>
          </a:prstGeom>
          <a:solidFill>
            <a:srgbClr val="783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uadroTexto 6"/>
          <p:cNvSpPr txBox="1"/>
          <p:nvPr/>
        </p:nvSpPr>
        <p:spPr>
          <a:xfrm>
            <a:off x="2258009" y="182880"/>
            <a:ext cx="48052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Base de Datos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839755" y="1417637"/>
            <a:ext cx="6811347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3200" dirty="0">
                <a:solidFill>
                  <a:srgbClr val="FFFFFF"/>
                </a:solidFill>
              </a:rPr>
              <a:t>• Tablas: </a:t>
            </a:r>
            <a:r>
              <a:rPr lang="es-VE" sz="3200" dirty="0" err="1">
                <a:solidFill>
                  <a:srgbClr val="FFFFFF"/>
                </a:solidFill>
              </a:rPr>
              <a:t>users</a:t>
            </a:r>
            <a:r>
              <a:rPr lang="es-VE" sz="3200" dirty="0">
                <a:solidFill>
                  <a:srgbClr val="FFFFFF"/>
                </a:solidFill>
              </a:rPr>
              <a:t>, </a:t>
            </a:r>
            <a:r>
              <a:rPr lang="es-VE" sz="3200" dirty="0" err="1">
                <a:solidFill>
                  <a:srgbClr val="FFFFFF"/>
                </a:solidFill>
              </a:rPr>
              <a:t>tournaments</a:t>
            </a:r>
            <a:r>
              <a:rPr lang="es-VE" sz="3200" dirty="0">
                <a:solidFill>
                  <a:srgbClr val="FFFFFF"/>
                </a:solidFill>
              </a:rPr>
              <a:t>, </a:t>
            </a:r>
            <a:r>
              <a:rPr lang="es-VE" sz="3200" dirty="0" err="1">
                <a:solidFill>
                  <a:srgbClr val="FFFFFF"/>
                </a:solidFill>
              </a:rPr>
              <a:t>events</a:t>
            </a:r>
            <a:r>
              <a:rPr lang="es-VE" sz="3200" dirty="0">
                <a:solidFill>
                  <a:srgbClr val="FFFFFF"/>
                </a:solidFill>
              </a:rPr>
              <a:t>, </a:t>
            </a:r>
            <a:r>
              <a:rPr lang="es-VE" sz="3200" dirty="0" err="1">
                <a:solidFill>
                  <a:srgbClr val="FFFFFF"/>
                </a:solidFill>
              </a:rPr>
              <a:t>categories</a:t>
            </a:r>
            <a:r>
              <a:rPr lang="es-VE" sz="3200" dirty="0">
                <a:solidFill>
                  <a:srgbClr val="FFFFFF"/>
                </a:solidFill>
              </a:rPr>
              <a:t>,</a:t>
            </a:r>
          </a:p>
          <a:p>
            <a:r>
              <a:rPr lang="es-VE" sz="3200" dirty="0">
                <a:solidFill>
                  <a:srgbClr val="FFFFFF"/>
                </a:solidFill>
              </a:rPr>
              <a:t>  </a:t>
            </a:r>
            <a:r>
              <a:rPr lang="es-VE" sz="3200" dirty="0" err="1">
                <a:solidFill>
                  <a:srgbClr val="FFFFFF"/>
                </a:solidFill>
              </a:rPr>
              <a:t>athletes</a:t>
            </a:r>
            <a:r>
              <a:rPr lang="es-VE" sz="3200" dirty="0">
                <a:solidFill>
                  <a:srgbClr val="FFFFFF"/>
                </a:solidFill>
              </a:rPr>
              <a:t>, </a:t>
            </a:r>
            <a:r>
              <a:rPr lang="es-VE" sz="3200" dirty="0" err="1">
                <a:solidFill>
                  <a:srgbClr val="FFFFFF"/>
                </a:solidFill>
              </a:rPr>
              <a:t>registrations</a:t>
            </a:r>
            <a:r>
              <a:rPr lang="es-VE" sz="3200" dirty="0">
                <a:solidFill>
                  <a:srgbClr val="FFFFFF"/>
                </a:solidFill>
              </a:rPr>
              <a:t>, times</a:t>
            </a:r>
          </a:p>
          <a:p>
            <a:r>
              <a:rPr lang="es-VE" sz="3200" dirty="0">
                <a:solidFill>
                  <a:srgbClr val="FFFFFF"/>
                </a:solidFill>
              </a:rPr>
              <a:t>• Modelo diseñado y normalizado</a:t>
            </a:r>
          </a:p>
          <a:p>
            <a:endParaRPr lang="es-VE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solidFill>
                  <a:srgbClr val="FFFFFF"/>
                </a:solidFill>
              </a:rP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E6E6E6"/>
                </a:solidFill>
              </a:rPr>
              <a:t>• Proyecto funcional completo</a:t>
            </a:r>
          </a:p>
          <a:p>
            <a:r>
              <a:rPr sz="2000">
                <a:solidFill>
                  <a:srgbClr val="E6E6E6"/>
                </a:solidFill>
              </a:rPr>
              <a:t>• Cumple requisitos solicitados</a:t>
            </a:r>
          </a:p>
          <a:p>
            <a:r>
              <a:rPr sz="2000">
                <a:solidFill>
                  <a:srgbClr val="E6E6E6"/>
                </a:solidFill>
              </a:rPr>
              <a:t>• Documentación y despliegue incluidos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400800" y="182880"/>
            <a:ext cx="1828800" cy="1828800"/>
          </a:xfrm>
          <a:prstGeom prst="ellipse">
            <a:avLst/>
          </a:prstGeom>
          <a:solidFill>
            <a:srgbClr val="3C5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sosceles Triangle 5"/>
          <p:cNvSpPr/>
          <p:nvPr/>
        </p:nvSpPr>
        <p:spPr>
          <a:xfrm>
            <a:off x="274320" y="4114800"/>
            <a:ext cx="2286000" cy="1828800"/>
          </a:xfrm>
          <a:prstGeom prst="triangle">
            <a:avLst/>
          </a:prstGeom>
          <a:solidFill>
            <a:srgbClr val="783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uadroTexto 6"/>
          <p:cNvSpPr txBox="1"/>
          <p:nvPr/>
        </p:nvSpPr>
        <p:spPr>
          <a:xfrm>
            <a:off x="3107094" y="182880"/>
            <a:ext cx="34243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Conclusión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1950098" y="1600200"/>
            <a:ext cx="670871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• Proyecto completo y funcional</a:t>
            </a:r>
          </a:p>
          <a:p>
            <a:r>
              <a:rPr lang="es-VE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• Cumple requisitos de administración deportiva</a:t>
            </a:r>
          </a:p>
          <a:p>
            <a:r>
              <a:rPr lang="es-VE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• Despliegue e instalación documentados</a:t>
            </a:r>
          </a:p>
          <a:p>
            <a:endParaRPr lang="es-VE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266</Words>
  <Application>Microsoft Office PowerPoint</Application>
  <PresentationFormat>Presentación en pantalla (4:3)</PresentationFormat>
  <Paragraphs>59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Cooper Black</vt:lpstr>
      <vt:lpstr>Office Theme</vt:lpstr>
      <vt:lpstr>Presentación de PowerPoint</vt:lpstr>
      <vt:lpstr>Resumen del Proyecto</vt:lpstr>
      <vt:lpstr>Metodología Scrum</vt:lpstr>
      <vt:lpstr>Funcionalidades</vt:lpstr>
      <vt:lpstr>Arquitectura</vt:lpstr>
      <vt:lpstr>Base de Datos</vt:lpstr>
      <vt:lpstr>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mariafatale2006@gmail.com</cp:lastModifiedBy>
  <cp:revision>3</cp:revision>
  <dcterms:created xsi:type="dcterms:W3CDTF">2013-01-27T09:14:16Z</dcterms:created>
  <dcterms:modified xsi:type="dcterms:W3CDTF">2025-11-23T19:03:56Z</dcterms:modified>
  <cp:category/>
</cp:coreProperties>
</file>